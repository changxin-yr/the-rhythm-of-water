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b8234c00b04507" /><Relationship Type="http://schemas.openxmlformats.org/officeDocument/2006/relationships/extended-properties" Target="/docProps/app.xml" Id="Ra8cb08f9e1b74a86" /><Relationship Type="http://schemas.openxmlformats.org/officeDocument/2006/relationships/officeDocument" Target="/ppt/presentation.xml" Id="Rff91cdb1a6d649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5b23a1fdc04633"/>
  </p:sldMasterIdLst>
  <p:notesMasterIdLst>
    <p:notesMasterId xmlns:r="http://schemas.openxmlformats.org/officeDocument/2006/relationships" r:id="Ra19d7ab13d31437c"/>
  </p:notesMasterIdLst>
  <p:sldIdLst>
    <p:sldId xmlns:r="http://schemas.openxmlformats.org/officeDocument/2006/relationships" id="256" r:id="Red87aa233dac42e4"/>
    <p:sldId xmlns:r="http://schemas.openxmlformats.org/officeDocument/2006/relationships" id="257" r:id="R12c3265ce17746bb"/>
    <p:sldId xmlns:r="http://schemas.openxmlformats.org/officeDocument/2006/relationships" id="258" r:id="R0855727fbd574c6c"/>
    <p:sldId xmlns:r="http://schemas.openxmlformats.org/officeDocument/2006/relationships" id="259" r:id="Rc104880e849e4b35"/>
    <p:sldId xmlns:r="http://schemas.openxmlformats.org/officeDocument/2006/relationships" id="260" r:id="R8a9869597cc94def"/>
    <p:sldId xmlns:r="http://schemas.openxmlformats.org/officeDocument/2006/relationships" id="261" r:id="R22767e942b554564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f178d977d44ed8" /><Relationship Type="http://schemas.openxmlformats.org/officeDocument/2006/relationships/slideMaster" Target="/ppt/slideMasters/slideMaster1.xml" Id="R295b23a1fdc04633" /><Relationship Type="http://schemas.openxmlformats.org/officeDocument/2006/relationships/notesMaster" Target="/ppt/notesMasters/notesMaster1.xml" Id="Ra19d7ab13d31437c" /><Relationship Type="http://schemas.openxmlformats.org/officeDocument/2006/relationships/presProps" Target="/ppt/presProps.xml" Id="R499443d8bfa24ee9" /><Relationship Type="http://schemas.openxmlformats.org/officeDocument/2006/relationships/viewProps" Target="/ppt/viewProps.xml" Id="R064aa036aa684704" /><Relationship Type="http://schemas.openxmlformats.org/officeDocument/2006/relationships/tableStyles" Target="/ppt/tableStyles.xml" Id="R3be23f4daf3d4b0e" /><Relationship Type="http://schemas.openxmlformats.org/officeDocument/2006/relationships/slide" Target="/ppt/slides/slide1.xml" Id="Red87aa233dac42e4" /><Relationship Type="http://schemas.openxmlformats.org/officeDocument/2006/relationships/slide" Target="/ppt/slides/slide2.xml" Id="R12c3265ce17746bb" /><Relationship Type="http://schemas.openxmlformats.org/officeDocument/2006/relationships/slide" Target="/ppt/slides/slide3.xml" Id="R0855727fbd574c6c" /><Relationship Type="http://schemas.openxmlformats.org/officeDocument/2006/relationships/slide" Target="/ppt/slides/slide4.xml" Id="Rc104880e849e4b35" /><Relationship Type="http://schemas.openxmlformats.org/officeDocument/2006/relationships/slide" Target="/ppt/slides/slide5.xml" Id="R8a9869597cc94def" /><Relationship Type="http://schemas.openxmlformats.org/officeDocument/2006/relationships/slide" Target="/ppt/slides/slide6.xml" Id="R22767e942b5545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e9f4d75ac545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901dad7bae4bdb" /><Relationship Type="http://schemas.openxmlformats.org/officeDocument/2006/relationships/notesMaster" Target="/ppt/notesMasters/notesMaster1.xml" Id="Re9606874216647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1b107dd46245cd" /><Relationship Type="http://schemas.openxmlformats.org/officeDocument/2006/relationships/notesMaster" Target="/ppt/notesMasters/notesMaster1.xml" Id="Ra8415f4fd72f41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7ab8ca41944b5d" /><Relationship Type="http://schemas.openxmlformats.org/officeDocument/2006/relationships/notesMaster" Target="/ppt/notesMasters/notesMaster1.xml" Id="R5cba277eba8343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97434856024ee1" /><Relationship Type="http://schemas.openxmlformats.org/officeDocument/2006/relationships/notesMaster" Target="/ppt/notesMasters/notesMaster1.xml" Id="R18db5cdeeb5e4f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d40f7938d94385" /><Relationship Type="http://schemas.openxmlformats.org/officeDocument/2006/relationships/notesMaster" Target="/ppt/notesMasters/notesMaster1.xml" Id="Rd5c1e45187204e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c48d65b7e24c2c" /><Relationship Type="http://schemas.openxmlformats.org/officeDocument/2006/relationships/notesMaster" Target="/ppt/notesMasters/notesMaster1.xml" Id="Re8364ef2288c48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30d800a41a44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fd7fe8998f4b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b7a4f4a52a40b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630590e74c4d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3016d221ac4d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bc0664551141e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c729eb6c6744e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a074010d7c42c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5b6cb826a64ba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0e3648640148c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c642592cd4ba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FCFEB0-512B-4A85-AA38-2C010C5ED0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9ACBBAE-A6DA-4856-8E71-68D850C430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04B9D1-DB7D-43AD-A681-014DC81612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4ACC504-ADA7-4AE5-8384-B4228A444F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A97D074-E32E-4124-9850-655BC09BD3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F1109E-30AC-4AA3-B43A-C5B956E16C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653326A-6A30-4667-A753-6A6CBC40BF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C992527-250C-4D37-9ADE-ECAB7C9FEB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1D98517-2425-4987-B062-C4C0D2EDB8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DFDB75-899A-4F06-82B8-ACC1A13210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F724BA-09D2-4109-AC34-BEA35CCCF2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76E767B-5FFD-4FE9-B686-0FC8700E4B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FA331B3-C2C0-4E3E-9AD6-F68EC61275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E19C41-AC8A-4AD1-A673-19006BD3BC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5D69B1-6EE8-4F02-B3F8-76A9E3AECD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D1A989-BEB0-4487-9F24-9164A1A865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778453-7E81-464C-9CD6-6F0D8DA402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687808-59A5-4991-A6CD-FA1BE9B4C0F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AA4AE50-E645-46B9-A571-0F6A971B01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687D5F0-67A8-4A07-877F-A92F3224C0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600DD2-2F9D-4F13-A14C-6BDB0AA58B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AB29F9-6E7A-40C4-8A39-281C6F1BC2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0288B46-45A7-4864-9B8B-4F9C927CE3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A5C2887-0D2E-4631-B10E-BE80D9BEEC1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95FC57F-C9E5-4180-99A1-BFD4E7B1CF7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3824558-58BB-41BF-B7CD-A0A2A2D0050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A276F85-EF6F-498B-88C1-38390117B5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BB0E0EF-278F-44C8-8FF1-2AC7BED2F1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8D698DA-43F4-4A93-887D-7C38D895AF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2EFB3B-C591-40F6-AFFE-2EF9699D7C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1170AA1-CE8B-4980-B94D-7FE2F3B55A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3CF3032-F5F3-4854-9746-C70C9D69E5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EF4E97C-A502-4EE7-8162-2E7A19B98B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139B74A-8581-476B-9469-1CD2D0FC7B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A75C572-6FB4-4729-B665-787D1FA64C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1E19EE7-2B55-4B34-834E-1B1CEF785D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D056BD-EB69-4047-9A99-BBAC4221EC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F89CB78-EEB9-4E3E-BBBB-F493C6CE4F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D64696C-307C-40ED-80CA-78B17ABBCBC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D2A9D7D-2602-4042-8876-4E1CF3358E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A15ED4-A3A3-46A0-872E-8A81BD8596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7104C0C-305D-4C49-B477-EF4198E6D0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00E4D1-267B-46E1-843E-45EF1E1DF9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6EC6A3D-0BBA-47A8-9D18-186E5D57655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92E4968-065B-486E-A457-EDB7C807D4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EC5259C-B080-45CB-ADC4-716647F9D3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E64981A-20AD-4A30-A38E-86447C849D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93DC023-12FD-4140-8DDB-A0CFBA8584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9826EA-D894-4011-BC8B-B4E1FBCC21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9B75C9-F878-4F9D-9E58-EDF8A2EADD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79D3749-A752-40CE-AF48-2540B34295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7B1B746-FB2F-479A-A9B5-16500767F4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01DAE78-6185-4174-A29D-97600B6E41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C82E731-7B2F-4C47-A16F-DA731054E2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D62CFAC-F46E-4D11-AD58-A0B3454402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3E923F-C09F-4957-8278-1D5EB505A9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5D8DD3C-F3D3-400B-99F4-01784C143B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54B878-C47D-4796-8C04-AF172657C6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33d1caaeda4a49" /><Relationship Type="http://schemas.openxmlformats.org/officeDocument/2006/relationships/slideLayout" Target="/ppt/slideLayouts/slideLayout1.xml" Id="R874c3ae92fac4b3a" /><Relationship Type="http://schemas.openxmlformats.org/officeDocument/2006/relationships/slideLayout" Target="/ppt/slideLayouts/slideLayout2.xml" Id="R10a2ac010b08401c" /><Relationship Type="http://schemas.openxmlformats.org/officeDocument/2006/relationships/slideLayout" Target="/ppt/slideLayouts/slideLayout3.xml" Id="R9e6cf570c75240c2" /><Relationship Type="http://schemas.openxmlformats.org/officeDocument/2006/relationships/slideLayout" Target="/ppt/slideLayouts/slideLayout4.xml" Id="R27991582fb464a06" /><Relationship Type="http://schemas.openxmlformats.org/officeDocument/2006/relationships/slideLayout" Target="/ppt/slideLayouts/slideLayout5.xml" Id="Rfd8e34c612ea4451" /><Relationship Type="http://schemas.openxmlformats.org/officeDocument/2006/relationships/slideLayout" Target="/ppt/slideLayouts/slideLayout6.xml" Id="R4ef3e0fda1ba4925" /><Relationship Type="http://schemas.openxmlformats.org/officeDocument/2006/relationships/slideLayout" Target="/ppt/slideLayouts/slideLayout7.xml" Id="Rfcd7eaa8df8c4225" /><Relationship Type="http://schemas.openxmlformats.org/officeDocument/2006/relationships/slideLayout" Target="/ppt/slideLayouts/slideLayout8.xml" Id="R5629af4dd3084c86" /><Relationship Type="http://schemas.openxmlformats.org/officeDocument/2006/relationships/slideLayout" Target="/ppt/slideLayouts/slideLayout9.xml" Id="R328c958de42c4126" /><Relationship Type="http://schemas.openxmlformats.org/officeDocument/2006/relationships/slideLayout" Target="/ppt/slideLayouts/slideLayout10.xml" Id="R1da05dc385634c11" /><Relationship Type="http://schemas.openxmlformats.org/officeDocument/2006/relationships/slideLayout" Target="/ppt/slideLayouts/slideLayout11.xml" Id="R6e1627e8a2b942c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85B2C07-E004-4D87-A983-E9EF600A6E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BDBA8F-21A8-4FF6-85FC-2C8BF22532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27CD207-1A02-43BF-AA09-C1FEF2C2DD6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6103079-E8DA-4767-B048-CE04BBB686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BFAA6D5-E8B1-49B0-B19E-C0990CB0B9A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4c3ae92fac4b3a"/>
    <p:sldLayoutId xmlns:r="http://schemas.openxmlformats.org/officeDocument/2006/relationships" id="2147483650" r:id="R10a2ac010b08401c"/>
    <p:sldLayoutId xmlns:r="http://schemas.openxmlformats.org/officeDocument/2006/relationships" id="2147483651" r:id="R9e6cf570c75240c2"/>
    <p:sldLayoutId xmlns:r="http://schemas.openxmlformats.org/officeDocument/2006/relationships" id="2147483652" r:id="R27991582fb464a06"/>
    <p:sldLayoutId xmlns:r="http://schemas.openxmlformats.org/officeDocument/2006/relationships" id="2147483653" r:id="Rfd8e34c612ea4451"/>
    <p:sldLayoutId xmlns:r="http://schemas.openxmlformats.org/officeDocument/2006/relationships" id="2147483654" r:id="R4ef3e0fda1ba4925"/>
    <p:sldLayoutId xmlns:r="http://schemas.openxmlformats.org/officeDocument/2006/relationships" id="2147483655" r:id="Rfcd7eaa8df8c4225"/>
    <p:sldLayoutId xmlns:r="http://schemas.openxmlformats.org/officeDocument/2006/relationships" id="2147483656" r:id="R5629af4dd3084c86"/>
    <p:sldLayoutId xmlns:r="http://schemas.openxmlformats.org/officeDocument/2006/relationships" id="2147483657" r:id="R328c958de42c4126"/>
    <p:sldLayoutId xmlns:r="http://schemas.openxmlformats.org/officeDocument/2006/relationships" id="2147483658" r:id="R1da05dc385634c11"/>
    <p:sldLayoutId xmlns:r="http://schemas.openxmlformats.org/officeDocument/2006/relationships" id="2147483659" r:id="R6e1627e8a2b942cf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f2a004e3c445a0" /><Relationship Type="http://schemas.openxmlformats.org/officeDocument/2006/relationships/image" Target="/ppt/media/image.jpeg" Id="Rc2d12fc21de5457c" /><Relationship Type="http://schemas.openxmlformats.org/officeDocument/2006/relationships/notesSlide" Target="/ppt/notesSlides/notesSlide1.xml" Id="Re53c11eaaf2c45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f2a553f5ed4bdc" /><Relationship Type="http://schemas.openxmlformats.org/officeDocument/2006/relationships/notesSlide" Target="/ppt/notesSlides/notesSlide2.xml" Id="R19e31204d58942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671cce643346b6" /><Relationship Type="http://schemas.openxmlformats.org/officeDocument/2006/relationships/image" Target="/ppt/media/image.jpeg" Id="R1f12c7003d434e43" /><Relationship Type="http://schemas.openxmlformats.org/officeDocument/2006/relationships/image" Target="/ppt/media/image2.jpeg" Id="R0937017a480f4da5" /><Relationship Type="http://schemas.openxmlformats.org/officeDocument/2006/relationships/image" Target="/ppt/media/image3.jpeg" Id="Rc687239f758442a9" /><Relationship Type="http://schemas.openxmlformats.org/officeDocument/2006/relationships/notesSlide" Target="/ppt/notesSlides/notesSlide3.xml" Id="Rf760ebd5c8ff42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8ab58f64144ce4" /><Relationship Type="http://schemas.openxmlformats.org/officeDocument/2006/relationships/notesSlide" Target="/ppt/notesSlides/notesSlide4.xml" Id="Red3718d06b1c40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ae6a9fee084968" /><Relationship Type="http://schemas.openxmlformats.org/officeDocument/2006/relationships/image" Target="/ppt/media/image3.jpeg" Id="R8b22997668974d75" /><Relationship Type="http://schemas.openxmlformats.org/officeDocument/2006/relationships/notesSlide" Target="/ppt/notesSlides/notesSlide5.xml" Id="R289fa2f9490b4b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b16fc4b16f4721" /><Relationship Type="http://schemas.openxmlformats.org/officeDocument/2006/relationships/image" Target="/ppt/media/image2.jpeg" Id="R2facfa87e5f04c39" /><Relationship Type="http://schemas.openxmlformats.org/officeDocument/2006/relationships/notesSlide" Target="/ppt/notesSlides/notesSlide6.xml" Id="R5360723d8cfd499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83BD9FE-FB9A-46C8-BB2F-392D4A0D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B25A8D6-BDEB-4E13-9DE2-4199C015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0664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4A26BA9-D2E6-40C7-A681-7A2249D2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B15F5BC-D554-4D2E-91C3-EDBEFA87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34440"/>
            <a:ext cx="6309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0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参赛作品简介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D06DB48-C277-4747-8E83-CBF4BF56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6309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5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元气有数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9A101A7-4EEE-42FA-9998-A525E3A3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80360"/>
            <a:ext cx="6309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科学饮水 + 个人记账 · 全离线健康财务管理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D6C8A64-079C-44A4-9891-5F6BDAA9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502920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68E3868-502A-4F31-9031-185FF5D0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94560" cy="47548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9DCC3CC-093D-49A8-927A-6D4E103C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95928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健康生活 / 效率工具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D29F3DE-6994-4348-8EFA-122B63A4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92040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常新队 · 队长：易荛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8DBF4A9-9761-4123-907A-14B5DA27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21808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湘潭理工学院 · 信息与计算科学 · 指导老师：徐畅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B9693DF-1AEF-43D1-92FB-ABC06FE0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87568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HarmonyOS · ArkTS / ArkUI · 2026年8月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41FB941-C5F4-4AA6-9107-84825806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694944"/>
            <a:ext cx="2706624" cy="554653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F9E6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1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12fc21de545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841248"/>
            <a:ext cx="2395728" cy="5253922"/>
          </a:xfrm>
          <a:prstGeom xmlns:a="http://schemas.openxmlformats.org/drawingml/2006/main" prst="roundRect">
            <a:avLst>
              <a:gd name="adj" fmla="val 6361"/>
            </a:avLst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713BC1D-3F0F-49AE-9AC9-3A2AE10F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6479218"/>
            <a:ext cx="30358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DevEco Studio 模拟器实测</a:t>
            </a:r>
          </a:p>
        </p:txBody>
      </p:sp>
    </p:spTree>
    <p:extLst>
      <p:ext uri="{BB962C8B-B14F-4D97-AF65-F5344CB8AC3E}">
        <p14:creationId xmlns:p14="http://schemas.microsoft.com/office/powerpoint/2010/main" val="9335837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6BDB030-AD50-4024-8126-FE35F888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1877223-49CB-4855-AB24-59F3CF4D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47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作品概述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BF9D9EC-73D3-4C53-9C64-07AF380E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54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元气有数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8AE5B61-674E-4EA5-ACDC-223BE826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960120"/>
            <a:ext cx="1115568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AF3EC9A-B88B-45A0-A3B4-09C7790A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 / 6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CF26FE8-DC05-47F3-98ED-23ABF49F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创作背景与定位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5EC5672-0A46-40B4-9C21-E37CC3B0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512064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办公久坐人群普遍饮水不足，市面饮水应用大多功能单一、千人一面的2000ml目标。我们基于体重、性别、年龄、运动量（五级）科学计算个性化饮水目标，结合多饮品水合系数追踪、植物养成激励、成就等级系统，并融合个人记账模块，打造全离线隐私安全的健康+财务管理应用。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2EBBED0-2310-4094-834C-DA8F22D2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690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目标用户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C7C3347-A562-40A9-B9CD-7522F59C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98848"/>
            <a:ext cx="51206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关注健康的年轻白领、健身爱好者、孕产期女性、办公久坐人群，饮水+记账覆盖日常高频场景。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5C5D208-B851-41BF-A9A6-6669449A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40680"/>
            <a:ext cx="5120640" cy="7772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1F8F4"/>
          </a:solidFill>
          <a:ln xmlns:a="http://schemas.openxmlformats.org/drawingml/2006/main" w="9525">
            <a:solidFill>
              <a:srgbClr val="9BCFAF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7D955C2-876E-49D1-AFC0-E3E0082A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96128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35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「 科学个性化饮水管理+个人记账合一，植物养成激励每日达标，全离线数据不出设备。 」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B0A97BB-D346-49C9-8D52-0B219B14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3258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技术架构一览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24E20A9-A47D-45D1-A931-FB1628E2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783080"/>
            <a:ext cx="5230368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E416896-C92C-411C-8553-B8BDC134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938528"/>
            <a:ext cx="4800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Stage模型 + RDB双持久化 + 跨模块数据同步桥 + 游戏化激励引擎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C7D4FA04-AF26-41CE-82AD-5DDDA6EC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880360"/>
            <a:ext cx="1371600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8216BC7-F9B1-41B7-8315-EB82F75C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962656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开发框架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E2336A8A-7545-4C27-BB50-FFFA021C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880360"/>
            <a:ext cx="3767328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83C643E-75C8-4D5E-B43A-AA27EF80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962656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HarmonyOS ArkTS / ArkUI 声明式开发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4EB93B7B-A5C1-4738-AD37-647CD9AB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447288"/>
            <a:ext cx="1371600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E3080A8-B68B-4598-AD0B-B7E0DE9F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52958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API 基线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45ABC403-AF35-4A61-850B-06652D7B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447288"/>
            <a:ext cx="3767328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FF527EE-ED64-40C9-BB44-C8307133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529584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HarmonyOS API 24（6.1.1）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0AE7DFFF-65AD-443C-BE43-52785BCF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014215"/>
            <a:ext cx="1371600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E062147-7D97-49E4-8617-A1F7ACF1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096511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设备适配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88491BAA-A2A0-4AA8-93F4-C31675F6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014215"/>
            <a:ext cx="3767328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18BD81A-FCB6-496D-950E-D56BAC62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096511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手机 / 平板 / 2in1 一多适配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E41C02D6-3AA6-4FBF-ADF3-C3485C35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581144"/>
            <a:ext cx="1371600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7E3F677-53C5-403A-ABC1-46CA5CD6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6634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隐私安全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896E2ACB-3297-43CC-9530-B1C5D357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581144"/>
            <a:ext cx="3767328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3211DF9C-2B32-4063-8AE6-B37ED97F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66344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全离线运行，最小化权限申请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B269504-E179-44C1-99EA-F66EEA73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2303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特性关键词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9B33A02A-6582-4A34-8E77-43E837B6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79008"/>
            <a:ext cx="1217980" cy="365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17FCC0AF-748F-4720-90CA-D79F869B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847588"/>
            <a:ext cx="1217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科学目标计算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F1836DB5-3CC8-4600-976A-2850FD8F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8508" y="5779008"/>
            <a:ext cx="1060704" cy="365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A15C6C53-F41D-47BC-B1AC-7A41BE06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8508" y="5847588"/>
            <a:ext cx="10607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游戏化激励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FBB781D4-A0AF-4F8F-94DF-5AAE9169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940" y="5779008"/>
            <a:ext cx="1217980" cy="365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41F1B867-CCED-4481-B5FE-DBE372BB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940" y="5847588"/>
            <a:ext cx="1217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健康财务一体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8A0A0E6E-AABA-4A07-B7E2-F41092A1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649" y="5779008"/>
            <a:ext cx="746150" cy="365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257CE55C-D288-4A53-A72B-73FD205E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649" y="5847588"/>
            <a:ext cx="7461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全离线</a:t>
            </a:r>
          </a:p>
        </p:txBody>
      </p:sp>
    </p:spTree>
    <p:extLst>
      <p:ext uri="{BB962C8B-B14F-4D97-AF65-F5344CB8AC3E}">
        <p14:creationId xmlns:p14="http://schemas.microsoft.com/office/powerpoint/2010/main" val="13844292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CB3CAD4-358C-4006-AC39-BB25F36C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5A1F2AA-52A7-4E45-AD7D-957E0BFE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47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核心功能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5CE8F3B-7ABD-43B9-BB37-7FE7E9AA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54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元气有数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4CF5194-760A-4D4C-8271-8B1D5373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960120"/>
            <a:ext cx="1115568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87ADDF4-7AFA-4F53-A86F-ECC6AF7B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3 / 6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D737224-A430-4106-9822-232F666E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5623560" cy="4983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3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① 概览看板·健康财务一体</a:t>
            </a:r>
          </a:p>
          <a:p xmlns:a="http://schemas.openxmlformats.org/drawingml/2006/main"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首页集中展示今日饮水进度与本月收支，DataRefresh+LedgerRefreshBridge跨模块同步，一屏掌握健康与财务。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3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② 水波纹动画+快速记录</a:t>
            </a:r>
          </a:p>
          <a:p xmlns:a="http://schemas.openxmlformats.org/drawingml/2006/main"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WaterWaveProgress组件实时展示完成百分比，QuickAddButton预设150/250/300/500ml一键记录+自定义输入。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3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③ 植物养成+成就系统</a:t>
            </a:r>
          </a:p>
          <a:p xmlns:a="http://schemas.openxmlformats.org/drawingml/2006/main"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PlantService管理虚拟植物随饮水成长，AchievementService解锁里程碑徽章，等级从水滴升至海洋。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3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▪ 科学个性化目标</a:t>
            </a:r>
          </a:p>
          <a:p xmlns:a="http://schemas.openxmlformats.org/drawingml/2006/main"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GoalService基于体重/性别/年龄/运动量（五级）/气候/特殊状态（孕期/生病）计算推荐量，非固定2000ml模板。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3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▪ 多饮品水合+个人记账</a:t>
            </a:r>
          </a:p>
          <a:p xmlns:a="http://schemas.openxmlformats.org/drawingml/2006/main"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BeverageRepository预置8类饮品按水合百分比精确计算有效摄入；BillService/CategoryService/BudgetService完整记账，PieChart/LineChart统计可视化。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117BCB7-E9FC-4C7D-8255-053B8624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234440"/>
            <a:ext cx="5029200" cy="4937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E6A942B-9067-4EC3-A223-3744983B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389888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实机运行效果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301D345-BFEC-4F08-80FC-89CB7F2C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17320"/>
            <a:ext cx="2331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DevEco Studio 模拟器</a:t>
            </a:r>
          </a:p>
        </p:txBody>
      </p:sp>
      <p:pic>
        <p:nvPicPr>
          <p:cNvPr id="3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2c7003d434e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67728" y="1828800"/>
            <a:ext cx="1481328" cy="3248608"/>
          </a:xfrm>
          <a:prstGeom xmlns:a="http://schemas.openxmlformats.org/drawingml/2006/main" prst="roundRect">
            <a:avLst>
              <a:gd name="adj" fmla="val 10288"/>
            </a:avLst>
          </a:prstGeom>
        </p:spPr>
      </p:pic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9E7A393A-3E97-4D94-88F2-49EAFCFD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170992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6E"/>
          </a:solidFill>
          <a:ln xmlns:a="http://schemas.openxmlformats.org/drawingml/2006/main" w="1905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E30AE71-EFA4-4134-96DA-26815E7A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5205424"/>
            <a:ext cx="1591056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12DDD24-FCD8-41F7-BAE1-A5A63363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5264860"/>
            <a:ext cx="15910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概览·饮水+收支看板</a:t>
            </a:r>
          </a:p>
        </p:txBody>
      </p:sp>
      <p:pic>
        <p:nvPicPr>
          <p:cNvPr id="40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7017a480f4d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86216" y="1828800"/>
            <a:ext cx="1481328" cy="3248608"/>
          </a:xfrm>
          <a:prstGeom xmlns:a="http://schemas.openxmlformats.org/drawingml/2006/main" prst="roundRect">
            <a:avLst>
              <a:gd name="adj" fmla="val 10288"/>
            </a:avLst>
          </a:prstGeom>
        </p:spPr>
      </p:pic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14859A10-DDBB-41E8-A8FF-4A20AC86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1936" y="170992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6E"/>
          </a:solidFill>
          <a:ln xmlns:a="http://schemas.openxmlformats.org/drawingml/2006/main" w="1905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188F6A51-707C-438A-9A3F-7863D73F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5205424"/>
            <a:ext cx="1591056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81C4B6F-E901-4456-BF1D-9C820DC8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5264860"/>
            <a:ext cx="15910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喝水·圆环进度快速记录</a:t>
            </a:r>
          </a:p>
        </p:txBody>
      </p:sp>
      <p:pic>
        <p:nvPicPr>
          <p:cNvPr id="44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7239f758442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04704" y="1828800"/>
            <a:ext cx="1481328" cy="3248608"/>
          </a:xfrm>
          <a:prstGeom xmlns:a="http://schemas.openxmlformats.org/drawingml/2006/main" prst="roundRect">
            <a:avLst>
              <a:gd name="adj" fmla="val 10288"/>
            </a:avLst>
          </a:prstGeom>
        </p:spPr>
      </p:pic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C09482A7-8700-47A2-9BED-E5BA0880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424" y="170992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6E"/>
          </a:solidFill>
          <a:ln xmlns:a="http://schemas.openxmlformats.org/drawingml/2006/main" w="1905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2FCB26F2-2AED-4C12-9CB2-E219079D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5205424"/>
            <a:ext cx="1591056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A3F3AD2-7418-4CC0-81BA-E54EFDB7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5264860"/>
            <a:ext cx="15910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成就·植物养成徽章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4BD9819-C735-489B-96FF-CABBA6CB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742432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※ 编号与左侧功能点一一对应，均为真实运行界面</a:t>
            </a:r>
          </a:p>
        </p:txBody>
      </p:sp>
    </p:spTree>
    <p:extLst>
      <p:ext uri="{BB962C8B-B14F-4D97-AF65-F5344CB8AC3E}">
        <p14:creationId xmlns:p14="http://schemas.microsoft.com/office/powerpoint/2010/main" val="17817846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48E40C-445B-48EF-B16F-DB45B323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7763A4D-5600-4B3D-99A4-D3CB71E7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47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技术实现与鸿蒙特性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2B4B9B3-CCD2-41E2-B0EF-D67ED229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54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元气有数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E4AC2FF-15E2-4CDF-ACC0-91ABAFDC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960120"/>
            <a:ext cx="1115568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D721245-EF8D-4FC7-B7CF-B2638F53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4 / 6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D15E6B7-4457-4DB3-8BBC-3B2EC4B8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8016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鸿蒙原生能力应用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DACE571-552D-4629-9DC2-F589026A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19656"/>
            <a:ext cx="8229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16D2020-D5D5-4B30-90BC-A6CC2F3D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737360"/>
            <a:ext cx="5212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HarmonyOS Stage模型+ArkUI声明式框架，Preferences+RDB数据库（记账模块DatabaseHelper）双持久化方案。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CDCF6EF-3F9D-4F65-B2E8-3DFC56F6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98648"/>
            <a:ext cx="8229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D24D47D-52A1-4BD2-84B1-11B6C72F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816352"/>
            <a:ext cx="5212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vibrator模块提供记录操作触觉反馈，6种主题色+StorageProp colorMode监听系统深浅色无缝切换。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9F86FD5-21D7-43E9-AFF0-00DA6ECA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39"/>
            <a:ext cx="8229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BD59DA4-4486-4AC9-A459-DC473318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95344"/>
            <a:ext cx="5212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适配手机+平板，SystemBarService管理系统栏外观，SafeAreaRules处理安全区域适配。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185055F-BB56-46CB-8840-319CFED7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56631"/>
            <a:ext cx="8229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CD3BCB1-2678-4402-86F1-A35463DB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974336"/>
            <a:ext cx="5212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DataRefresh全局刷新信号+LedgerRefreshBridge跨模块数据同步，保证饮水与记账数据一致性。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E9281982-CC68-44FA-BDC9-F7E09A23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737360"/>
            <a:ext cx="4983480" cy="24688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6E6ADC6-D201-41FB-85B1-D5F4AD0F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920240"/>
            <a:ext cx="4434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关键模块架构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B7A86282-BDBF-4CA7-B904-038835F7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331720"/>
            <a:ext cx="443484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F9E6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D90F9BF-C579-4207-84F8-80417186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372868"/>
            <a:ext cx="4160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概览看板·健康财务一体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FB8FCBEA-3EA7-49C5-8AAA-3EE03CF1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697479"/>
            <a:ext cx="443484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F9E6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8C48FB7-D4DE-48BB-BD4F-F1DA219A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38627"/>
            <a:ext cx="4160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水波纹动画+快速记录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7D70AF88-F127-4BD8-8CBB-08B8CBDB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063239"/>
            <a:ext cx="443484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F9E6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75A8BAA-66AA-42FE-93C9-2A268BEC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104387"/>
            <a:ext cx="4160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植物养成+成就系统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A00004C6-C544-4A87-972F-D9E3D9C9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428999"/>
            <a:ext cx="443484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F9E6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9FB1A13-4CEF-4465-8B8D-A106427F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470147"/>
            <a:ext cx="4160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科学个性化目标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AC085ABB-AE85-4438-8EC9-D511AC37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794759"/>
            <a:ext cx="443484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F9E6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9A9C127C-5024-47FD-A6F4-33920AFE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835907"/>
            <a:ext cx="4160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多饮品水合+个人记账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369ECEA-F592-41EF-B755-F1FCF8F1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434840"/>
            <a:ext cx="4983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工程质量保障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41C5E91B-67A2-4E00-BE54-C8543DA6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846320"/>
            <a:ext cx="498348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1F8F4"/>
          </a:solidFill>
          <a:ln xmlns:a="http://schemas.openxmlformats.org/drawingml/2006/main" w="9525">
            <a:solidFill>
              <a:srgbClr val="9BCFAF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7B0BCBC5-7C9B-4E0A-8573-38D4D9C4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010912"/>
            <a:ext cx="4526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状态机驱动核心交互逻辑，输入实时校验防错，深浅色主题与多断点适配，全部数据本地持久化可恢复。</a:t>
            </a:r>
          </a:p>
        </p:txBody>
      </p:sp>
    </p:spTree>
    <p:extLst>
      <p:ext uri="{BB962C8B-B14F-4D97-AF65-F5344CB8AC3E}">
        <p14:creationId xmlns:p14="http://schemas.microsoft.com/office/powerpoint/2010/main" val="20883060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DDC4ACD-2FA1-4890-B150-086CEE62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726C2DF-2B83-4AA4-9F3F-01643F9D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47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创新亮点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50FA936-6FA7-4E9B-BB94-EA337DA9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54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元气有数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707A951-E446-4D70-AD10-D4863FAB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960120"/>
            <a:ext cx="1115568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F6CEE26-A7A9-45BA-8B6A-C8A24A7D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5 / 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A287014-A583-42D1-9D32-01F74D06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98448"/>
            <a:ext cx="10927080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BD9B5E4-365E-4838-9B24-43A352AA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444752"/>
            <a:ext cx="10378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「 科学个性化饮水管理+个人记账合一，植物养成激励每日达标，全离线数据不出设备。 」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000E803-0AD1-48C7-A891-496C0E55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95728"/>
            <a:ext cx="603504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F4BDEE5-F075-4128-B4F5-758F3E45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15184"/>
            <a:ext cx="60350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C03C8B0-E98C-40AF-9874-825CFF4E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395728"/>
            <a:ext cx="6903720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FA3566-99E2-4C20-8904-98B9E5D0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2395728"/>
            <a:ext cx="6400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饮水追踪+个人记账融合在一个应用中，统一管理健康与财务数据，减少用户安装多APP负担。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34BC44B2-49E0-4308-9C29-DA52AAD0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603504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58E5FB0-1F63-49C4-AE47-6A26FC7C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02736"/>
            <a:ext cx="60350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2A53743-508B-40ED-8790-19270716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383280"/>
            <a:ext cx="6903720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D688BF6-8CD4-47A2-9CF3-D4E23850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383280"/>
            <a:ext cx="6400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植物养成+成就徽章+等级系统（水滴→溪流→河流→湖泊→海洋）三重激励，游戏化解决饮水习惯坚持难题。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0E0282A4-D745-47E4-87FB-D9AC506D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70832"/>
            <a:ext cx="603504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2D0290B-8C3D-4CCC-8EA5-036FCAC5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90288"/>
            <a:ext cx="60350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22D84858-BE73-47A5-AB45-FD4C89F7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370832"/>
            <a:ext cx="6903720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A5BCCCC-6BB2-4D10-BFD3-1E75EE66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4370832"/>
            <a:ext cx="6400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多维度数据可视化：水波纹动画进度、StatsBarChart周/月/年柱状图、HeatmapCalendar热力日历、时段分析、饮品构成。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991E458F-D7E3-419E-914A-54971F03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68112"/>
            <a:ext cx="7589520" cy="56692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1F8F4"/>
          </a:solidFill>
          <a:ln xmlns:a="http://schemas.openxmlformats.org/drawingml/2006/main" w="9525">
            <a:solidFill>
              <a:srgbClr val="9BCFAF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6F4C373-355F-4157-B032-6E958073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59552"/>
            <a:ext cx="7132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动画、反馈与统计均为真实功能，DevEco Studio 模拟器与真机上均可稳定复现。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3766962F-728E-4354-AD01-21148B48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298448"/>
            <a:ext cx="2103120" cy="48463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03FA2BA-7C30-4961-91E2-1764856F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444752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实机验证</a:t>
            </a:r>
          </a:p>
        </p:txBody>
      </p:sp>
      <p:pic>
        <p:nvPicPr>
          <p:cNvPr id="52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2997668974d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38360" y="1810512"/>
            <a:ext cx="1737360" cy="3810096"/>
          </a:xfrm>
          <a:prstGeom xmlns:a="http://schemas.openxmlformats.org/drawingml/2006/main" prst="roundRect">
            <a:avLst>
              <a:gd name="adj" fmla="val 8772"/>
            </a:avLst>
          </a:prstGeom>
        </p:spPr>
      </p:pic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54EDF506-3908-4926-BDB1-6D6B49B3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5779008"/>
            <a:ext cx="164592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A1FA706E-1365-46D1-A4C0-A49ED86A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5838444"/>
            <a:ext cx="1645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成就·植物养成徽章</a:t>
            </a:r>
          </a:p>
        </p:txBody>
      </p:sp>
    </p:spTree>
    <p:extLst>
      <p:ext uri="{BB962C8B-B14F-4D97-AF65-F5344CB8AC3E}">
        <p14:creationId xmlns:p14="http://schemas.microsoft.com/office/powerpoint/2010/main" val="11733866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FE7D2DF-A326-4303-A65B-F8EC284F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D2EC280-832D-4149-8584-F10753E9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47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应用价值与展望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21CCFD4-2321-4F57-BBA0-3CBCC9D5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54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元气有数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4B0519F-A441-4C3F-8BE3-8A9BF09E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960120"/>
            <a:ext cx="1115568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316FEB5-6991-4B63-A029-5D67B619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6 / 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1640FB9-3F5D-4DC2-8990-E582246C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5349240" cy="4800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F139483-7BDA-491E-A859-D8C7D60D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655064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1F39B1E-EF42-42FC-AB62-3A746608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627632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用户价值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843921A-B317-453C-85E8-8FF266B8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2029968"/>
            <a:ext cx="468172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关注健康的年轻白领、健身爱好者、孕产期女性、办公久坐人群，饮水+记账覆盖日常高频场景。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5334EC5-D0A9-4BDE-A079-479206FE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79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FC475F7-1D39-4F8E-9387-29819732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127248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用户反馈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5E60270-0A6E-4799-88BB-E8A126CB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529584"/>
            <a:ext cx="468172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科学目标计算获得认可，植物养成有效提升留存，记账功能增加应用日常打开价值。用户评价：功能适用、好用。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5CC9E2E-A541-46D4-A2ED-D0C6B320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654296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5382C5C-F283-4CB2-AC0E-C8D2FD79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4626864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商业前景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DA77CCA-B9F8-40E1-B3B6-6D47A951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5029200"/>
            <a:ext cx="468172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高级主题皮肤、植物品种扩展包、高级统计报告等增值服务变现；融合定位提升日活频率。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9EB598A-47AC-418F-87D9-CEFCE0A8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25880"/>
            <a:ext cx="3017520" cy="21488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70CEC05-A08A-40BA-8C62-5288D5F5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81328"/>
            <a:ext cx="2606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未来展望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E27251F-3D06-4E41-B223-E9A14371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83664"/>
            <a:ext cx="2606040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暂不支持多设备同步，已在规划中，后续将通过鸿蒙分布式能力打通。
我们将持续迭代体验、扩充内容生态，并借助鸿蒙多设备与AI能力升级产品。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40130721-282D-4646-BBF8-487E4E11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03320"/>
            <a:ext cx="3017520" cy="24231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96AC9E4-0C40-4042-83FA-6DD51B32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58768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团队信息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25E9A38-79C1-4AF1-A069-06F3762D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325112"/>
            <a:ext cx="64008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65E5E36-CBFC-4B4B-957A-FBF24198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242816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常新队 · 队长：易荛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BB132FB-1CE4-4DD1-8643-41757F5C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718303"/>
            <a:ext cx="64008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2A08233-3460-4035-8AF7-F46E9BAB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636007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湘潭理工学院 · 信息与计算科学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EE91867-7C9D-4281-B05C-B21D6391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111495"/>
            <a:ext cx="64008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1B540C6-CA5C-4A22-8277-B440577A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029199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指导老师：徐畅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0C6423F-0976-4FE3-8689-FF719C55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504687"/>
            <a:ext cx="64008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F7B53AF7-B8F3-4BDD-8556-B94DA2CF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22391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参赛时间：2026年8月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17FA475B-EAE0-4307-A835-D0B10E3E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897879"/>
            <a:ext cx="64008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410C3523-AF07-4303-B57B-276BDB57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815583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联系方式：13367425801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81E9AAAC-D3AE-4FA2-8F87-692DEBB5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325880"/>
            <a:ext cx="2057400" cy="4800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849C3ED9-D7B8-4E4C-8515-6A9D6A9D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463040"/>
            <a:ext cx="187451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2F9E6E"/>
                </a:solidFill>
                <a:latin typeface="微软雅黑"/>
                <a:ea typeface="微软雅黑"/>
                <a:cs typeface="微软雅黑"/>
              </a:rPr>
              <a:t>界面一览</a:t>
            </a:r>
          </a:p>
        </p:txBody>
      </p:sp>
      <p:pic>
        <p:nvPicPr>
          <p:cNvPr id="71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cfa87e5f04c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06940" y="1810512"/>
            <a:ext cx="1737360" cy="3810096"/>
          </a:xfrm>
          <a:prstGeom xmlns:a="http://schemas.openxmlformats.org/drawingml/2006/main" prst="roundRect">
            <a:avLst>
              <a:gd name="adj" fmla="val 8772"/>
            </a:avLst>
          </a:prstGeom>
        </p:spPr>
      </p:pic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41D73911-5DA5-411F-A57E-C4842A2B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650992"/>
            <a:ext cx="173736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F9E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19BD7DBC-2411-44B2-ACC2-B9A26E7C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710428"/>
            <a:ext cx="1737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喝水·圆环进度快速记录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E78446B6-AB09-4591-B3BD-C890A40D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元气有数 · 参赛作品简介</a:t>
            </a:r>
          </a:p>
        </p:txBody>
      </p:sp>
    </p:spTree>
    <p:extLst>
      <p:ext uri="{BB962C8B-B14F-4D97-AF65-F5344CB8AC3E}">
        <p14:creationId xmlns:p14="http://schemas.microsoft.com/office/powerpoint/2010/main" val="152314899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2026-08-21T02:52:15.8490000Z</dcterms:created>
  <dcterms:modified xsi:type="dcterms:W3CDTF">2026-08-21T02:52:15.8490000Z</dcterms:modified>
</coreProperties>
</file>